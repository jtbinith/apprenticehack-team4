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3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5D0B"/>
    <a:srgbClr val="D4E096"/>
    <a:srgbClr val="E5ECBD"/>
    <a:srgbClr val="F7F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40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OPY_MASTER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5B685"/>
          </a:solidFill>
          <a:ln w="12700">
            <a:solidFill>
              <a:srgbClr val="55B6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CANOPY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C756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Apprentice Progress Companion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39D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1361-62CA-0099-56D7-BA7F6C74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E3FC-11A9-EBD7-6387-0151E93FF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A0386-BB4C-0B11-8599-42A55017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6D5D1-45BA-6BB9-D32D-99206604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A6DC-E207-1073-DB0E-F7076B72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8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39D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0"/>
            <a:ext cx="5349240" cy="3977640"/>
          </a:xfrm>
          <a:prstGeom prst="arc">
            <a:avLst/>
          </a:prstGeom>
          <a:solidFill>
            <a:srgbClr val="DDF4E7">
              <a:alpha val="92000"/>
            </a:srgbClr>
          </a:solidFill>
          <a:ln w="12700">
            <a:solidFill>
              <a:srgbClr val="DDF4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452360" y="411480"/>
            <a:ext cx="4617720" cy="3611880"/>
          </a:xfrm>
          <a:prstGeom prst="arc">
            <a:avLst/>
          </a:prstGeom>
          <a:solidFill>
            <a:srgbClr val="C9EFD9">
              <a:alpha val="96000"/>
            </a:srgbClr>
          </a:solidFill>
          <a:ln w="12700">
            <a:solidFill>
              <a:srgbClr val="C9E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 rot="1920000">
            <a:off x="731520" y="658368"/>
            <a:ext cx="399593" cy="694944"/>
          </a:xfrm>
          <a:prstGeom prst="ellipse">
            <a:avLst/>
          </a:prstGeom>
          <a:solidFill>
            <a:srgbClr val="55B685"/>
          </a:solidFill>
          <a:ln w="12700">
            <a:solidFill>
              <a:srgbClr val="55B6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rot="-1920000">
            <a:off x="1035558" y="710489"/>
            <a:ext cx="399593" cy="694944"/>
          </a:xfrm>
          <a:prstGeom prst="ellipse">
            <a:avLst/>
          </a:prstGeom>
          <a:solidFill>
            <a:srgbClr val="87CFA7"/>
          </a:solidFill>
          <a:ln w="12700">
            <a:solidFill>
              <a:srgbClr val="87CF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78992" y="1031900"/>
            <a:ext cx="0" cy="573329"/>
          </a:xfrm>
          <a:prstGeom prst="line">
            <a:avLst/>
          </a:prstGeom>
          <a:noFill/>
          <a:ln w="19050">
            <a:solidFill>
              <a:srgbClr val="1638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00200" y="758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50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CANOPY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apprenticeship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 companion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04672" y="3502152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C756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everyday work into structured evidence — without the Sunday-night admin.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" y="4782312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D4E096"/>
          </a:solidFill>
          <a:ln w="12700">
            <a:solidFill>
              <a:srgbClr val="DDF4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77824" y="48508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67712" y="4782312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D4E096"/>
          </a:solidFill>
          <a:ln w="12700">
            <a:solidFill>
              <a:srgbClr val="DDF4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340864" y="4850892"/>
            <a:ext cx="1088136" cy="164592"/>
          </a:xfrm>
          <a:prstGeom prst="rect">
            <a:avLst/>
          </a:prstGeom>
          <a:solidFill>
            <a:srgbClr val="D4E09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OTJ HOURS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78231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096"/>
          </a:solidFill>
          <a:ln w="12700">
            <a:solidFill>
              <a:srgbClr val="DDF4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712464" y="4850892"/>
            <a:ext cx="1271016" cy="164592"/>
          </a:xfrm>
          <a:prstGeom prst="rect">
            <a:avLst/>
          </a:prstGeom>
          <a:solidFill>
            <a:srgbClr val="D4E09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KSB EVIDENCE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93792" y="478231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4E096"/>
          </a:solidFill>
          <a:ln w="12700">
            <a:solidFill>
              <a:srgbClr val="DDF4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266944" y="4850892"/>
            <a:ext cx="996696" cy="164592"/>
          </a:xfrm>
          <a:prstGeom prst="rect">
            <a:avLst/>
          </a:prstGeom>
          <a:solidFill>
            <a:srgbClr val="D4E09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43800" y="1463040"/>
            <a:ext cx="3749040" cy="4343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E4DC"/>
            </a:solidFill>
            <a:prstDash val="solid"/>
          </a:ln>
          <a:effectLst>
            <a:outerShdw blurRad="25400" dist="50800" dir="2700000" algn="bl" rotWithShape="0">
              <a:srgbClr val="AAB9B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882128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82C"/>
                </a:solidFill>
              </a:rPr>
              <a:t>Today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56648" y="17556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45D0B"/>
                </a:solidFill>
              </a:rPr>
              <a:t>3h 15m</a:t>
            </a:r>
            <a:endParaRPr lang="en-US" sz="1700" dirty="0">
              <a:solidFill>
                <a:srgbClr val="345D0B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82128" y="2075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6F"/>
                </a:solidFill>
              </a:rPr>
              <a:t>Off-the-job learning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45552" y="2606040"/>
            <a:ext cx="3154680" cy="694944"/>
          </a:xfrm>
          <a:prstGeom prst="roundRect">
            <a:avLst>
              <a:gd name="adj" fmla="val 7895"/>
            </a:avLst>
          </a:prstGeom>
          <a:solidFill>
            <a:srgbClr val="EDF7F1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028432" y="275234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756F"/>
                </a:solidFill>
              </a:rPr>
              <a:t>09:00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77072" y="27066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D2521"/>
                </a:solidFill>
              </a:rPr>
              <a:t>University workshop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577072" y="29718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B685"/>
                </a:solidFill>
              </a:rPr>
              <a:t>S4 · K7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45552" y="3438144"/>
            <a:ext cx="3154680" cy="694944"/>
          </a:xfrm>
          <a:prstGeom prst="roundRect">
            <a:avLst>
              <a:gd name="adj" fmla="val 7895"/>
            </a:avLst>
          </a:prstGeom>
          <a:solidFill>
            <a:srgbClr val="FAFCFA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028432" y="35844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756F"/>
                </a:solidFill>
              </a:rPr>
              <a:t>11:00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77072" y="35387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D2521"/>
                </a:solidFill>
              </a:rPr>
              <a:t>Client discovery call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577072" y="38039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56F"/>
                </a:solidFill>
              </a:rPr>
              <a:t>KSB suggested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45552" y="4270248"/>
            <a:ext cx="3154680" cy="694944"/>
          </a:xfrm>
          <a:prstGeom prst="roundRect">
            <a:avLst>
              <a:gd name="adj" fmla="val 7895"/>
            </a:avLst>
          </a:prstGeom>
          <a:solidFill>
            <a:srgbClr val="FAFCFA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028432" y="441655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756F"/>
                </a:solidFill>
              </a:rPr>
              <a:t>14:30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77072" y="43708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D2521"/>
                </a:solidFill>
              </a:rPr>
              <a:t>Project build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577072" y="46360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56F"/>
                </a:solidFill>
              </a:rPr>
              <a:t>Reflection due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63840" y="5166360"/>
            <a:ext cx="3127248" cy="347472"/>
          </a:xfrm>
          <a:prstGeom prst="roundRect">
            <a:avLst>
              <a:gd name="adj" fmla="val 15789"/>
            </a:avLst>
          </a:prstGeom>
          <a:solidFill>
            <a:srgbClr val="16382C"/>
          </a:solidFill>
          <a:ln w="12700">
            <a:solidFill>
              <a:srgbClr val="1638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092440" y="525780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 weekly reflection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5B6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Apprenticeship admin is fragmented — and usually done too 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5705" y="1664208"/>
            <a:ext cx="112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6F"/>
                </a:solidFill>
              </a:rPr>
              <a:t>QAA study of 1000 apprentices – 30% (300) mentioned a lack of support for OTJ hours and weekly journals from both university and employer</a:t>
            </a:r>
            <a:endParaRPr lang="en-US" sz="13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783229-18A5-7EF4-36C5-525A4B9E464B}"/>
              </a:ext>
            </a:extLst>
          </p:cNvPr>
          <p:cNvGrpSpPr/>
          <p:nvPr/>
        </p:nvGrpSpPr>
        <p:grpSpPr>
          <a:xfrm>
            <a:off x="339852" y="2240280"/>
            <a:ext cx="11512296" cy="3154680"/>
            <a:chOff x="330566" y="2240280"/>
            <a:chExt cx="11512296" cy="315468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7B81226-0FA5-5FF0-147E-26AFA2DBE1EC}"/>
                </a:ext>
              </a:extLst>
            </p:cNvPr>
            <p:cNvGrpSpPr/>
            <p:nvPr/>
          </p:nvGrpSpPr>
          <p:grpSpPr>
            <a:xfrm>
              <a:off x="330566" y="2240280"/>
              <a:ext cx="2286000" cy="3154680"/>
              <a:chOff x="658368" y="2240280"/>
              <a:chExt cx="2286000" cy="315468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658368" y="2240280"/>
                <a:ext cx="2185416" cy="3154680"/>
              </a:xfrm>
              <a:prstGeom prst="roundRect">
                <a:avLst>
                  <a:gd name="adj" fmla="val 3347"/>
                </a:avLst>
              </a:prstGeom>
              <a:solidFill>
                <a:srgbClr val="DDF4E7"/>
              </a:solidFill>
              <a:ln w="10160">
                <a:solidFill>
                  <a:srgbClr val="D8E4D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822960" y="2404872"/>
                <a:ext cx="3840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55B685"/>
                    </a:solidFill>
                  </a:rPr>
                  <a:t>01</a:t>
                </a:r>
                <a:endParaRPr lang="en-US" sz="900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822960" y="2743200"/>
                <a:ext cx="185623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kern="0" spc="90" dirty="0">
                    <a:solidFill>
                      <a:srgbClr val="6C756F"/>
                    </a:solidFill>
                  </a:rPr>
                  <a:t>CAPTURE</a:t>
                </a:r>
                <a:endParaRPr lang="en-US" sz="95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822960" y="3200400"/>
                <a:ext cx="185623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6382C"/>
                    </a:solidFill>
                  </a:rPr>
                  <a:t>Reflection happens late</a:t>
                </a:r>
                <a:endParaRPr lang="en-US" sz="16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822960" y="4087368"/>
                <a:ext cx="1856232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D2521"/>
                    </a:solidFill>
                  </a:rPr>
                  <a:t>Details are forgotten and entries become vague.</a:t>
                </a:r>
                <a:endParaRPr lang="en-US" sz="1100" dirty="0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2816352" y="3794760"/>
                <a:ext cx="128016" cy="0"/>
              </a:xfrm>
              <a:prstGeom prst="line">
                <a:avLst/>
              </a:prstGeom>
              <a:noFill/>
              <a:ln w="13970">
                <a:solidFill>
                  <a:srgbClr val="A8B6AE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F64FF58-215A-851A-03D8-364F43497A65}"/>
                </a:ext>
              </a:extLst>
            </p:cNvPr>
            <p:cNvGrpSpPr/>
            <p:nvPr/>
          </p:nvGrpSpPr>
          <p:grpSpPr>
            <a:xfrm>
              <a:off x="2662286" y="2240280"/>
              <a:ext cx="2286000" cy="3154680"/>
              <a:chOff x="2990088" y="2240280"/>
              <a:chExt cx="2286000" cy="315468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2990088" y="2240280"/>
                <a:ext cx="2185416" cy="3154680"/>
              </a:xfrm>
              <a:prstGeom prst="roundRect">
                <a:avLst>
                  <a:gd name="adj" fmla="val 3347"/>
                </a:avLst>
              </a:prstGeom>
              <a:solidFill>
                <a:srgbClr val="E6F2EC"/>
              </a:solidFill>
              <a:ln w="10160">
                <a:solidFill>
                  <a:srgbClr val="D8E4D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3154680" y="2404872"/>
                <a:ext cx="3840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55B685"/>
                    </a:solidFill>
                  </a:rPr>
                  <a:t>02</a:t>
                </a:r>
                <a:endParaRPr lang="en-US" sz="9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3154680" y="2743200"/>
                <a:ext cx="185623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kern="0" spc="90" dirty="0">
                    <a:solidFill>
                      <a:srgbClr val="6C756F"/>
                    </a:solidFill>
                  </a:rPr>
                  <a:t>EVIDENCE</a:t>
                </a:r>
                <a:endParaRPr lang="en-US" sz="9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3154680" y="3200400"/>
                <a:ext cx="185623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6382C"/>
                    </a:solidFill>
                  </a:rPr>
                  <a:t>Work lives everywhere</a:t>
                </a:r>
                <a:endParaRPr lang="en-US" sz="16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3154680" y="4087368"/>
                <a:ext cx="1856232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D2521"/>
                    </a:solidFill>
                  </a:rPr>
                  <a:t>Calendar, notes, tickets and portals never join up.</a:t>
                </a:r>
                <a:endParaRPr lang="en-US" sz="1100" dirty="0"/>
              </a:p>
            </p:txBody>
          </p:sp>
          <p:sp>
            <p:nvSpPr>
              <p:cNvPr id="16" name="Shape 14"/>
              <p:cNvSpPr/>
              <p:nvPr/>
            </p:nvSpPr>
            <p:spPr>
              <a:xfrm>
                <a:off x="5148072" y="3794760"/>
                <a:ext cx="128016" cy="0"/>
              </a:xfrm>
              <a:prstGeom prst="line">
                <a:avLst/>
              </a:prstGeom>
              <a:noFill/>
              <a:ln w="13970">
                <a:solidFill>
                  <a:srgbClr val="A8B6AE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062CA3B-1772-92DB-3774-E81A74EF76F0}"/>
                </a:ext>
              </a:extLst>
            </p:cNvPr>
            <p:cNvGrpSpPr/>
            <p:nvPr/>
          </p:nvGrpSpPr>
          <p:grpSpPr>
            <a:xfrm>
              <a:off x="4994006" y="2240280"/>
              <a:ext cx="2286000" cy="3154680"/>
              <a:chOff x="5321808" y="2240280"/>
              <a:chExt cx="2286000" cy="3154680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5321808" y="2240280"/>
                <a:ext cx="2185416" cy="3154680"/>
              </a:xfrm>
              <a:prstGeom prst="roundRect">
                <a:avLst>
                  <a:gd name="adj" fmla="val 3347"/>
                </a:avLst>
              </a:prstGeom>
              <a:solidFill>
                <a:srgbClr val="EDF3EE"/>
              </a:solidFill>
              <a:ln w="10160">
                <a:solidFill>
                  <a:srgbClr val="D8E4D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5486400" y="2404872"/>
                <a:ext cx="3840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55B685"/>
                    </a:solidFill>
                  </a:rPr>
                  <a:t>03</a:t>
                </a:r>
                <a:endParaRPr lang="en-US" sz="9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486400" y="2743200"/>
                <a:ext cx="185623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kern="0" spc="90" dirty="0">
                    <a:solidFill>
                      <a:srgbClr val="6C756F"/>
                    </a:solidFill>
                  </a:rPr>
                  <a:t>VALIDATE</a:t>
                </a:r>
                <a:endParaRPr lang="en-US" sz="95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5486400" y="3200400"/>
                <a:ext cx="185623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6382C"/>
                    </a:solidFill>
                  </a:rPr>
                  <a:t>Submitted ≠ accepted</a:t>
                </a:r>
                <a:endParaRPr lang="en-US" sz="16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486400" y="4087368"/>
                <a:ext cx="1856232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D2521"/>
                    </a:solidFill>
                  </a:rPr>
                  <a:t>Apprentices lack a clear view of what actually counts.</a:t>
                </a:r>
                <a:endParaRPr lang="en-US" sz="1100" dirty="0"/>
              </a:p>
            </p:txBody>
          </p:sp>
          <p:sp>
            <p:nvSpPr>
              <p:cNvPr id="22" name="Shape 20"/>
              <p:cNvSpPr/>
              <p:nvPr/>
            </p:nvSpPr>
            <p:spPr>
              <a:xfrm>
                <a:off x="7479792" y="3794760"/>
                <a:ext cx="128016" cy="0"/>
              </a:xfrm>
              <a:prstGeom prst="line">
                <a:avLst/>
              </a:prstGeom>
              <a:noFill/>
              <a:ln w="13970">
                <a:solidFill>
                  <a:srgbClr val="A8B6AE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9DD91FF-1289-A54A-FC36-CFDB63F45902}"/>
                </a:ext>
              </a:extLst>
            </p:cNvPr>
            <p:cNvGrpSpPr/>
            <p:nvPr/>
          </p:nvGrpSpPr>
          <p:grpSpPr>
            <a:xfrm>
              <a:off x="7325726" y="2240280"/>
              <a:ext cx="2286000" cy="3154680"/>
              <a:chOff x="7653528" y="2240280"/>
              <a:chExt cx="2286000" cy="3154680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7653528" y="2240280"/>
                <a:ext cx="2185416" cy="3154680"/>
              </a:xfrm>
              <a:prstGeom prst="roundRect">
                <a:avLst>
                  <a:gd name="adj" fmla="val 3347"/>
                </a:avLst>
              </a:prstGeom>
              <a:solidFill>
                <a:srgbClr val="F3F1E9"/>
              </a:solidFill>
              <a:ln w="10160">
                <a:solidFill>
                  <a:srgbClr val="D8E4D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7818120" y="2404872"/>
                <a:ext cx="3840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55B685"/>
                    </a:solidFill>
                  </a:rPr>
                  <a:t>04</a:t>
                </a:r>
                <a:endParaRPr lang="en-US" sz="9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7818120" y="2743200"/>
                <a:ext cx="185623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kern="0" spc="90" dirty="0">
                    <a:solidFill>
                      <a:srgbClr val="6C756F"/>
                    </a:solidFill>
                  </a:rPr>
                  <a:t>REVIEW</a:t>
                </a:r>
                <a:endParaRPr lang="en-US" sz="95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7818120" y="3200400"/>
                <a:ext cx="185623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6382C"/>
                    </a:solidFill>
                  </a:rPr>
                  <a:t>The same admin repeats</a:t>
                </a:r>
                <a:endParaRPr lang="en-US" sz="160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7818120" y="4087368"/>
                <a:ext cx="1856232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D2521"/>
                    </a:solidFill>
                  </a:rPr>
                  <a:t>Forms and summaries are rebuilt from scratch every cycle.</a:t>
                </a:r>
                <a:endParaRPr lang="en-US" sz="1100" dirty="0"/>
              </a:p>
            </p:txBody>
          </p:sp>
          <p:sp>
            <p:nvSpPr>
              <p:cNvPr id="28" name="Shape 26"/>
              <p:cNvSpPr/>
              <p:nvPr/>
            </p:nvSpPr>
            <p:spPr>
              <a:xfrm>
                <a:off x="9811512" y="3794760"/>
                <a:ext cx="128016" cy="0"/>
              </a:xfrm>
              <a:prstGeom prst="line">
                <a:avLst/>
              </a:prstGeom>
              <a:noFill/>
              <a:ln w="13970">
                <a:solidFill>
                  <a:srgbClr val="A8B6AE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F359F9B-6928-752E-E3D2-32579C5E2759}"/>
                </a:ext>
              </a:extLst>
            </p:cNvPr>
            <p:cNvGrpSpPr/>
            <p:nvPr/>
          </p:nvGrpSpPr>
          <p:grpSpPr>
            <a:xfrm>
              <a:off x="9657446" y="2240280"/>
              <a:ext cx="2185416" cy="3154680"/>
              <a:chOff x="9985248" y="2240280"/>
              <a:chExt cx="2185416" cy="3154680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9985248" y="2240280"/>
                <a:ext cx="2185416" cy="3154680"/>
              </a:xfrm>
              <a:prstGeom prst="roundRect">
                <a:avLst>
                  <a:gd name="adj" fmla="val 3347"/>
                </a:avLst>
              </a:prstGeom>
              <a:solidFill>
                <a:srgbClr val="F7E9E5"/>
              </a:solidFill>
              <a:ln w="10160">
                <a:solidFill>
                  <a:srgbClr val="D8E4D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10149840" y="2404872"/>
                <a:ext cx="3840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55B685"/>
                    </a:solidFill>
                  </a:rPr>
                  <a:t>05</a:t>
                </a:r>
                <a:endParaRPr lang="en-US" sz="90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10149840" y="2743200"/>
                <a:ext cx="185623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kern="0" spc="90" dirty="0">
                    <a:solidFill>
                      <a:srgbClr val="6C756F"/>
                    </a:solidFill>
                  </a:rPr>
                  <a:t>COMPLIANCE</a:t>
                </a:r>
                <a:endParaRPr lang="en-US" sz="95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10149840" y="3200400"/>
                <a:ext cx="185623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6382C"/>
                    </a:solidFill>
                  </a:rPr>
                  <a:t>OTJ hours are backfilled</a:t>
                </a:r>
                <a:endParaRPr lang="en-US" sz="160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10149840" y="4087368"/>
                <a:ext cx="1856232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D2521"/>
                    </a:solidFill>
                  </a:rPr>
                  <a:t>Targets drift until the gap becomes a problem.</a:t>
                </a:r>
                <a:endParaRPr lang="en-US" sz="1100" dirty="0"/>
              </a:p>
            </p:txBody>
          </p:sp>
        </p:grpSp>
      </p:grpSp>
      <p:sp>
        <p:nvSpPr>
          <p:cNvPr id="34" name="Shape 32"/>
          <p:cNvSpPr/>
          <p:nvPr/>
        </p:nvSpPr>
        <p:spPr>
          <a:xfrm>
            <a:off x="3273552" y="5669280"/>
            <a:ext cx="5650992" cy="566928"/>
          </a:xfrm>
          <a:prstGeom prst="roundRect">
            <a:avLst>
              <a:gd name="adj" fmla="val 11290"/>
            </a:avLst>
          </a:prstGeom>
          <a:solidFill>
            <a:srgbClr val="16382C"/>
          </a:solidFill>
          <a:ln w="12700">
            <a:solidFill>
              <a:srgbClr val="1638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493008" y="586130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Result: admin burden + weak evidence + poor visibility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39D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5B6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Canopy turns the apprenticeship into one continuous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6F"/>
                </a:solidFill>
              </a:rPr>
              <a:t>Do the work once. Reuse the evidence everywhere.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" y="2624328"/>
            <a:ext cx="822960" cy="822960"/>
          </a:xfrm>
          <a:prstGeom prst="ellipse">
            <a:avLst/>
          </a:prstGeom>
          <a:solidFill>
            <a:srgbClr val="345D0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42416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09928" y="3035808"/>
            <a:ext cx="1243584" cy="0"/>
          </a:xfrm>
          <a:prstGeom prst="line">
            <a:avLst/>
          </a:prstGeom>
          <a:noFill/>
          <a:ln w="27940">
            <a:solidFill>
              <a:srgbClr val="9BCD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55B685"/>
                </a:solidFill>
              </a:rPr>
              <a:t>CAPTURE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9456" y="40325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6382C"/>
                </a:solidFill>
              </a:rPr>
              <a:t>Calendar + OTJ timer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265176" y="464515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C756F"/>
                </a:solidFill>
              </a:rPr>
              <a:t>Record learning as it happens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044952" y="2624328"/>
            <a:ext cx="822960" cy="822960"/>
          </a:xfrm>
          <a:prstGeom prst="ellipse">
            <a:avLst/>
          </a:prstGeom>
          <a:solidFill>
            <a:srgbClr val="345D0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91840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59352" y="3035808"/>
            <a:ext cx="1243584" cy="0"/>
          </a:xfrm>
          <a:prstGeom prst="line">
            <a:avLst/>
          </a:prstGeom>
          <a:noFill/>
          <a:ln w="27940">
            <a:solidFill>
              <a:srgbClr val="9BCD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63347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55B685"/>
                </a:solidFill>
              </a:rPr>
              <a:t>STRUCTURE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40325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6382C"/>
                </a:solidFill>
              </a:rPr>
              <a:t>Gibbs reflections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2514600" y="464515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C756F"/>
                </a:solidFill>
              </a:rPr>
              <a:t>Prompts surface missing context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294376" y="2624328"/>
            <a:ext cx="822960" cy="822960"/>
          </a:xfrm>
          <a:prstGeom prst="ellipse">
            <a:avLst/>
          </a:prstGeom>
          <a:solidFill>
            <a:srgbClr val="345D0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541264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08776" y="3035808"/>
            <a:ext cx="1243584" cy="0"/>
          </a:xfrm>
          <a:prstGeom prst="line">
            <a:avLst/>
          </a:prstGeom>
          <a:noFill/>
          <a:ln w="27940">
            <a:solidFill>
              <a:srgbClr val="9BCD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82896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55B685"/>
                </a:solidFill>
              </a:rPr>
              <a:t>MAP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40325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6382C"/>
                </a:solidFill>
              </a:rPr>
              <a:t>KSB + evidence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4764024" y="464515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C756F"/>
                </a:solidFill>
              </a:rPr>
              <a:t>Suggest, confirm and attach proof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543800" y="2624328"/>
            <a:ext cx="822960" cy="822960"/>
          </a:xfrm>
          <a:prstGeom prst="ellipse">
            <a:avLst/>
          </a:prstGeom>
          <a:solidFill>
            <a:srgbClr val="345D0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790688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58200" y="3035808"/>
            <a:ext cx="1243584" cy="0"/>
          </a:xfrm>
          <a:prstGeom prst="line">
            <a:avLst/>
          </a:prstGeom>
          <a:noFill/>
          <a:ln w="27940">
            <a:solidFill>
              <a:srgbClr val="9BCD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13232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55B685"/>
                </a:solidFill>
              </a:rPr>
              <a:t>TRACK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67728" y="40325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6382C"/>
                </a:solidFill>
              </a:rPr>
              <a:t>Progress dashboard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7013448" y="464515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C756F"/>
                </a:solidFill>
              </a:rPr>
              <a:t>Coverage, accepted status and gaps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793224" y="2624328"/>
            <a:ext cx="822960" cy="822960"/>
          </a:xfrm>
          <a:prstGeom prst="ellipse">
            <a:avLst/>
          </a:prstGeom>
          <a:solidFill>
            <a:srgbClr val="345D0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0040112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81744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55B685"/>
                </a:solidFill>
              </a:rPr>
              <a:t>PREPARE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17152" y="40325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6382C"/>
                </a:solidFill>
              </a:rPr>
              <a:t>Review-ready output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9262872" y="464515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C756F"/>
                </a:solidFill>
              </a:rPr>
              <a:t>Forms, summaries and review packs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143000" y="5532120"/>
            <a:ext cx="9893808" cy="640080"/>
          </a:xfrm>
          <a:prstGeom prst="roundRect">
            <a:avLst>
              <a:gd name="adj" fmla="val 11429"/>
            </a:avLst>
          </a:prstGeom>
          <a:solidFill>
            <a:srgbClr val="D4E096"/>
          </a:solidFill>
          <a:ln w="10160">
            <a:solidFill>
              <a:srgbClr val="C4E7D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463040" y="5751576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82C"/>
                </a:solidFill>
              </a:rPr>
              <a:t>One source of truth for journals, OTJ hours, KSBs, evidence and reviews.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39D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5B6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9418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as a local-first, modular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6F"/>
                </a:solidFill>
              </a:rPr>
              <a:t>Five layers make the experience fast to demo — and expandable after the MVP.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4672" y="2240280"/>
            <a:ext cx="10561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87552" y="23865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80" dirty="0">
                <a:solidFill>
                  <a:srgbClr val="55B685"/>
                </a:solidFill>
              </a:rPr>
              <a:t>EXPERIENCE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40487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82C"/>
                </a:solidFill>
              </a:rPr>
              <a:t>Electron + TypeScript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28032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521"/>
                </a:solidFill>
              </a:rPr>
              <a:t>Calendar, STAR editor, timer and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445752" y="2404872"/>
            <a:ext cx="1627632" cy="329184"/>
          </a:xfrm>
          <a:prstGeom prst="roundRect">
            <a:avLst>
              <a:gd name="adj" fmla="val 22222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518904" y="247345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Vite · shadcn/ui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3127248"/>
            <a:ext cx="10561320" cy="713232"/>
          </a:xfrm>
          <a:prstGeom prst="roundRect">
            <a:avLst>
              <a:gd name="adj" fmla="val 7692"/>
            </a:avLst>
          </a:prstGeom>
          <a:solidFill>
            <a:srgbClr val="D4E096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87552" y="32735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80" dirty="0">
                <a:solidFill>
                  <a:srgbClr val="55B685"/>
                </a:solidFill>
              </a:rPr>
              <a:t>INTELLIGENCE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404872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82C"/>
                </a:solidFill>
              </a:rPr>
              <a:t>Rules + optional AI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521"/>
                </a:solidFill>
              </a:rPr>
              <a:t>KSB suggestions, completeness hints and summary polish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45752" y="3291840"/>
            <a:ext cx="162763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518904" y="33604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" y="4014216"/>
            <a:ext cx="10561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87552" y="41605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80" dirty="0">
                <a:solidFill>
                  <a:srgbClr val="55B685"/>
                </a:solidFill>
              </a:rPr>
              <a:t>DATA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404872" y="4133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82C"/>
                </a:solidFill>
              </a:rPr>
              <a:t>Local-first storage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28032" y="4133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521"/>
                </a:solidFill>
              </a:rPr>
              <a:t>Reflections, OTJ sessions, KSBs and review periods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45752" y="4178808"/>
            <a:ext cx="1627632" cy="329184"/>
          </a:xfrm>
          <a:prstGeom prst="roundRect">
            <a:avLst>
              <a:gd name="adj" fmla="val 22222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518904" y="424738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IndexedDB · Dexie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" y="4901184"/>
            <a:ext cx="10561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87552" y="5047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80" dirty="0">
                <a:solidFill>
                  <a:srgbClr val="55B685"/>
                </a:solidFill>
              </a:rPr>
              <a:t>CONNECT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404872" y="50200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82C"/>
                </a:solidFill>
              </a:rPr>
              <a:t>Pluggable connectors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28032" y="5020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521"/>
                </a:solidFill>
              </a:rPr>
              <a:t>ICS first; Google, Outlook, CSV and browser extension next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45752" y="5065776"/>
            <a:ext cx="1627632" cy="329184"/>
          </a:xfrm>
          <a:prstGeom prst="roundRect">
            <a:avLst>
              <a:gd name="adj" fmla="val 22222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518904" y="513435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Consent per source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" y="5788152"/>
            <a:ext cx="10561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4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87552" y="59344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80" dirty="0">
                <a:solidFill>
                  <a:srgbClr val="55B685"/>
                </a:solidFill>
              </a:rPr>
              <a:t>OUTPUT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2404872" y="5907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82C"/>
                </a:solidFill>
              </a:rPr>
              <a:t>Portable by design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28032" y="5907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521"/>
                </a:solidFill>
              </a:rPr>
              <a:t>Review packs, pre-review forms and PDF / Markdown export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45752" y="5952744"/>
            <a:ext cx="1627632" cy="329184"/>
          </a:xfrm>
          <a:prstGeom prst="roundRect">
            <a:avLst>
              <a:gd name="adj" fmla="val 22222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518904" y="602132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8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lock-in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01584" y="1562078"/>
            <a:ext cx="3246120" cy="493776"/>
          </a:xfrm>
          <a:prstGeom prst="roundRect">
            <a:avLst>
              <a:gd name="adj" fmla="val 11111"/>
            </a:avLst>
          </a:prstGeom>
          <a:solidFill>
            <a:srgbClr val="345D0B"/>
          </a:solidFill>
          <a:ln w="12700">
            <a:solidFill>
              <a:srgbClr val="1638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302752" y="1717526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Privacy by design: data stays local 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39D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29184"/>
            <a:ext cx="80467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700" b="0">
                <a:solidFill>
                  <a:srgbClr val="1E1E1E"/>
                </a:solidFill>
                <a:latin typeface="Aptos"/>
              </a:rPr>
              <a:t>From Hackathon →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89611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0">
                <a:solidFill>
                  <a:srgbClr val="63675F"/>
                </a:solidFill>
                <a:latin typeface="Aptos"/>
              </a:rPr>
              <a:t>Scale Canopy across whole apprenticeship cohorts — without compromising trust.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11712" y="164592"/>
            <a:ext cx="219456" cy="201168"/>
          </a:xfrm>
          <a:prstGeom prst="rect">
            <a:avLst/>
          </a:prstGeom>
          <a:solidFill>
            <a:srgbClr val="345D0B"/>
          </a:solidFill>
          <a:ln w="10160">
            <a:solidFill>
              <a:srgbClr val="345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11712" y="411480"/>
            <a:ext cx="219456" cy="201168"/>
          </a:xfrm>
          <a:prstGeom prst="rect">
            <a:avLst/>
          </a:prstGeom>
          <a:solidFill>
            <a:srgbClr val="E5ECBD"/>
          </a:solidFill>
          <a:ln w="10160">
            <a:solidFill>
              <a:srgbClr val="E5E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11712" y="658368"/>
            <a:ext cx="219456" cy="201168"/>
          </a:xfrm>
          <a:prstGeom prst="rect">
            <a:avLst/>
          </a:prstGeom>
          <a:solidFill>
            <a:srgbClr val="60432D"/>
          </a:solidFill>
          <a:ln w="10160">
            <a:solidFill>
              <a:srgbClr val="604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11712" y="905256"/>
            <a:ext cx="219456" cy="201168"/>
          </a:xfrm>
          <a:prstGeom prst="rect">
            <a:avLst/>
          </a:prstGeom>
          <a:solidFill>
            <a:srgbClr val="D4E096"/>
          </a:solidFill>
          <a:ln w="10160">
            <a:solidFill>
              <a:srgbClr val="D4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63093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>
                <a:solidFill>
                  <a:srgbClr val="345D0B"/>
                </a:solidFill>
                <a:latin typeface="Aptos"/>
              </a:rPr>
              <a:t>3-STAGE ENTERPRISE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82496"/>
            <a:ext cx="6172200" cy="969264"/>
          </a:xfrm>
          <a:prstGeom prst="roundRect">
            <a:avLst/>
          </a:prstGeom>
          <a:solidFill>
            <a:srgbClr val="E5ECBD"/>
          </a:solidFill>
          <a:ln w="10160">
            <a:solidFill>
              <a:srgbClr val="E5E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847088"/>
            <a:ext cx="512064" cy="512064"/>
          </a:xfrm>
          <a:prstGeom prst="roundRect">
            <a:avLst/>
          </a:prstGeom>
          <a:solidFill>
            <a:srgbClr val="345D0B"/>
          </a:solidFill>
          <a:ln w="10160">
            <a:solidFill>
              <a:srgbClr val="345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47088"/>
            <a:ext cx="512064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1792224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345D0B"/>
                </a:solidFill>
                <a:latin typeface="Aptos"/>
              </a:rPr>
              <a:t>Cohort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810512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50" b="1">
                <a:solidFill>
                  <a:srgbClr val="345D0B"/>
                </a:solidFill>
                <a:latin typeface="Aptos"/>
              </a:rPr>
              <a:t>25–100 learners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157984"/>
            <a:ext cx="48188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0">
                <a:solidFill>
                  <a:srgbClr val="345D0B"/>
                </a:solidFill>
                <a:latin typeface="Aptos"/>
              </a:rPr>
              <a:t>Cloud sync + university tenant  •  cohort dashboard  •  SSO-ready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62432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345D0B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98064"/>
            <a:ext cx="6172200" cy="969264"/>
          </a:xfrm>
          <a:prstGeom prst="roundRect">
            <a:avLst/>
          </a:prstGeom>
          <a:solidFill>
            <a:srgbClr val="D4E096"/>
          </a:solidFill>
          <a:ln w="10160">
            <a:solidFill>
              <a:srgbClr val="D4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2962656"/>
            <a:ext cx="512064" cy="512064"/>
          </a:xfrm>
          <a:prstGeom prst="roundRect">
            <a:avLst/>
          </a:prstGeom>
          <a:solidFill>
            <a:srgbClr val="345D0B"/>
          </a:solidFill>
          <a:ln w="10160">
            <a:solidFill>
              <a:srgbClr val="345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962656"/>
            <a:ext cx="512064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2907792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345D0B"/>
                </a:solidFill>
                <a:latin typeface="Aptos"/>
              </a:rPr>
              <a:t>Procurement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926080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50" b="1">
                <a:solidFill>
                  <a:srgbClr val="345D0B"/>
                </a:solidFill>
                <a:latin typeface="Aptos"/>
              </a:rPr>
              <a:t>100–500 learners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3273552"/>
            <a:ext cx="48188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0">
                <a:solidFill>
                  <a:srgbClr val="345D0B"/>
                </a:solidFill>
                <a:latin typeface="Aptos"/>
              </a:rPr>
              <a:t>UK GDPR DPA + DPIA pack  •  RBAC + audit logs  •  WCAG 2.2 AA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3739896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345D0B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13632"/>
            <a:ext cx="6172200" cy="969264"/>
          </a:xfrm>
          <a:prstGeom prst="roundRect">
            <a:avLst/>
          </a:prstGeom>
          <a:solidFill>
            <a:srgbClr val="345D0B"/>
          </a:solidFill>
          <a:ln w="10160">
            <a:solidFill>
              <a:srgbClr val="345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4078224"/>
            <a:ext cx="512064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078224"/>
            <a:ext cx="512064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45D0B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344" y="4023360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Enterprise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04164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Aptos"/>
              </a:rPr>
              <a:t>500+ learners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4389120"/>
            <a:ext cx="48188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Tenant isolation  •  encryption + backups  •  pen tests, SLA &amp; disaster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66360"/>
            <a:ext cx="63093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>
                <a:solidFill>
                  <a:srgbClr val="345D0B"/>
                </a:solidFill>
                <a:latin typeface="Aptos"/>
              </a:rPr>
              <a:t>GDPR-BY-DESIGN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13832"/>
            <a:ext cx="1133856" cy="658368"/>
          </a:xfrm>
          <a:prstGeom prst="roundRect">
            <a:avLst/>
          </a:prstGeom>
          <a:solidFill>
            <a:srgbClr val="F7F9F2"/>
          </a:solidFill>
          <a:ln w="10160">
            <a:solidFill>
              <a:srgbClr val="D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5605272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345D0B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788152"/>
            <a:ext cx="98755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E1E1E"/>
                </a:solidFill>
                <a:latin typeface="Aptos"/>
              </a:rPr>
              <a:t>Minimise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1388" y="5513832"/>
            <a:ext cx="1133856" cy="658368"/>
          </a:xfrm>
          <a:prstGeom prst="roundRect">
            <a:avLst/>
          </a:prstGeom>
          <a:solidFill>
            <a:srgbClr val="F7F9F2"/>
          </a:solidFill>
          <a:ln w="10160">
            <a:solidFill>
              <a:srgbClr val="D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34540" y="5605272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345D0B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34540" y="5788152"/>
            <a:ext cx="98755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E1E1E"/>
                </a:solidFill>
                <a:latin typeface="Aptos"/>
              </a:rPr>
              <a:t>Encrypt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91256" y="5513832"/>
            <a:ext cx="1133856" cy="658368"/>
          </a:xfrm>
          <a:prstGeom prst="roundRect">
            <a:avLst/>
          </a:prstGeom>
          <a:solidFill>
            <a:srgbClr val="F7F9F2"/>
          </a:solidFill>
          <a:ln w="10160">
            <a:solidFill>
              <a:srgbClr val="D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64408" y="5605272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345D0B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5788152"/>
            <a:ext cx="98755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E1E1E"/>
                </a:solidFill>
                <a:latin typeface="Aptos"/>
              </a:rPr>
              <a:t>Human-approved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21124" y="5513832"/>
            <a:ext cx="1133856" cy="658368"/>
          </a:xfrm>
          <a:prstGeom prst="roundRect">
            <a:avLst/>
          </a:prstGeom>
          <a:solidFill>
            <a:srgbClr val="F7F9F2"/>
          </a:solidFill>
          <a:ln w="10160">
            <a:solidFill>
              <a:srgbClr val="D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94276" y="5605272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345D0B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4276" y="5788152"/>
            <a:ext cx="98755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E1E1E"/>
                </a:solidFill>
                <a:latin typeface="Aptos"/>
              </a:rPr>
              <a:t>Export / delete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50992" y="5513832"/>
            <a:ext cx="1133856" cy="658368"/>
          </a:xfrm>
          <a:prstGeom prst="roundRect">
            <a:avLst/>
          </a:prstGeom>
          <a:solidFill>
            <a:srgbClr val="F7F9F2"/>
          </a:solidFill>
          <a:ln w="10160">
            <a:solidFill>
              <a:srgbClr val="D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24144" y="5605272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345D0B"/>
                </a:solidFill>
                <a:latin typeface="Apto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24144" y="5788152"/>
            <a:ext cx="98755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E1E1E"/>
                </a:solidFill>
                <a:latin typeface="Aptos"/>
              </a:rPr>
              <a:t>Breach process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68896" y="1298448"/>
            <a:ext cx="4279392" cy="4873752"/>
          </a:xfrm>
          <a:prstGeom prst="roundRect">
            <a:avLst/>
          </a:prstGeom>
          <a:solidFill>
            <a:srgbClr val="F7F9F2"/>
          </a:solidFill>
          <a:ln w="10160">
            <a:solidFill>
              <a:srgbClr val="D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43216" y="1527048"/>
            <a:ext cx="338328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>
                <a:solidFill>
                  <a:srgbClr val="345D0B"/>
                </a:solidFill>
                <a:latin typeface="Aptos"/>
              </a:rPr>
              <a:t>INDICATIVE COHORT PRICING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1874519"/>
            <a:ext cx="36118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50" b="1">
                <a:solidFill>
                  <a:srgbClr val="1E1E1E"/>
                </a:solidFill>
                <a:latin typeface="Aptos"/>
              </a:rPr>
              <a:t>Volume pricing that falls as adoption grows.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3216" y="2487168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69" b="1">
                <a:solidFill>
                  <a:srgbClr val="63675F"/>
                </a:solidFill>
                <a:latin typeface="Aptos"/>
              </a:rPr>
              <a:t>COHORT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728" y="2487168"/>
            <a:ext cx="74980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69" b="1">
                <a:solidFill>
                  <a:srgbClr val="63675F"/>
                </a:solidFill>
                <a:latin typeface="Aptos"/>
              </a:rPr>
              <a:t>MONTHLY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2992" y="2487168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69" b="1">
                <a:solidFill>
                  <a:srgbClr val="63675F"/>
                </a:solidFill>
                <a:latin typeface="Aptos"/>
              </a:rPr>
              <a:t>ANNUAL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443216" y="2798063"/>
            <a:ext cx="3694176" cy="0"/>
          </a:xfrm>
          <a:prstGeom prst="line">
            <a:avLst/>
          </a:prstGeom>
          <a:ln w="10160">
            <a:solidFill>
              <a:srgbClr val="D8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443216" y="2944368"/>
            <a:ext cx="117043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>
                <a:solidFill>
                  <a:srgbClr val="1E1E1E"/>
                </a:solidFill>
                <a:latin typeface="Aptos"/>
              </a:rPr>
              <a:t>Pilot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3216" y="3163824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60" b="0">
                <a:solidFill>
                  <a:srgbClr val="63675F"/>
                </a:solidFill>
                <a:latin typeface="Aptos"/>
              </a:rPr>
              <a:t>25–100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2971799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£10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32136" y="2971799"/>
            <a:ext cx="9052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£102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43216" y="3456432"/>
            <a:ext cx="3694176" cy="0"/>
          </a:xfrm>
          <a:prstGeom prst="line">
            <a:avLst/>
          </a:prstGeom>
          <a:ln w="7620">
            <a:solidFill>
              <a:srgbClr val="D8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443216" y="3557015"/>
            <a:ext cx="117043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>
                <a:solidFill>
                  <a:srgbClr val="1E1E1E"/>
                </a:solidFill>
                <a:latin typeface="Aptos"/>
              </a:rPr>
              <a:t>Faculty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43216" y="37764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60" b="0">
                <a:solidFill>
                  <a:srgbClr val="63675F"/>
                </a:solidFill>
                <a:latin typeface="Aptos"/>
              </a:rPr>
              <a:t>101–500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584447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£7.50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32136" y="3584447"/>
            <a:ext cx="9052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£76.50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443216" y="4069079"/>
            <a:ext cx="3694176" cy="0"/>
          </a:xfrm>
          <a:prstGeom prst="line">
            <a:avLst/>
          </a:prstGeom>
          <a:ln w="7620">
            <a:solidFill>
              <a:srgbClr val="D8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443216" y="4169663"/>
            <a:ext cx="117043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>
                <a:solidFill>
                  <a:srgbClr val="1E1E1E"/>
                </a:solidFill>
                <a:latin typeface="Aptos"/>
              </a:rPr>
              <a:t>Enterprise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43216" y="4389120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60" b="0">
                <a:solidFill>
                  <a:srgbClr val="63675F"/>
                </a:solidFill>
                <a:latin typeface="Aptos"/>
              </a:rPr>
              <a:t>501–2,000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4197096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£5.50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32136" y="4197096"/>
            <a:ext cx="9052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£56.10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443216" y="4681727"/>
            <a:ext cx="3694176" cy="0"/>
          </a:xfrm>
          <a:prstGeom prst="line">
            <a:avLst/>
          </a:prstGeom>
          <a:ln w="7620">
            <a:solidFill>
              <a:srgbClr val="D8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443216" y="4782312"/>
            <a:ext cx="117043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>
                <a:solidFill>
                  <a:srgbClr val="1E1E1E"/>
                </a:solidFill>
                <a:latin typeface="Aptos"/>
              </a:rPr>
              <a:t>University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6" y="5001768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60" b="0">
                <a:solidFill>
                  <a:srgbClr val="63675F"/>
                </a:solidFill>
                <a:latin typeface="Aptos"/>
              </a:rPr>
              <a:t>2,000+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0576" y="4809744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~£4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32136" y="4809744"/>
            <a:ext cx="9052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345D0B"/>
                </a:solidFill>
                <a:latin typeface="Aptos"/>
              </a:rPr>
              <a:t>Custom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43216" y="5486400"/>
            <a:ext cx="3694176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80" b="1">
                <a:solidFill>
                  <a:srgbClr val="60432D"/>
                </a:solidFill>
                <a:latin typeface="Aptos"/>
              </a:rPr>
              <a:t>Prices per learner  •  annual = 15% discount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43216" y="5779008"/>
            <a:ext cx="3694176" cy="301752"/>
          </a:xfrm>
          <a:prstGeom prst="roundRect">
            <a:avLst/>
          </a:prstGeom>
          <a:solidFill>
            <a:srgbClr val="E5ECBD"/>
          </a:solidFill>
          <a:ln w="10160">
            <a:solidFill>
              <a:srgbClr val="E5E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43216" y="5779008"/>
            <a:ext cx="3694176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345D0B"/>
                </a:solidFill>
                <a:latin typeface="Aptos"/>
              </a:rPr>
              <a:t>3-year commitment → 25% off list price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6528816"/>
            <a:ext cx="10652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63675F"/>
                </a:solidFill>
                <a:latin typeface="Aptos"/>
              </a:rPr>
              <a:t>Compliance baseline: UK GDPR / DPA 2018 • Article 28 processor contract • privacy by design • accessibility target WCAG 2.2 AA. Pricing is illustrative; integrations/setup priced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284577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Office PowerPoint</Application>
  <PresentationFormat>Widescreen</PresentationFormat>
  <Paragraphs>152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Canopy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Canopy — Apprentice Progress Companion</dc:title>
  <dc:subject>Canopy apprenticeship progress companion</dc:subject>
  <dc:creator>OpenAI</dc:creator>
  <cp:lastModifiedBy>Ram Headlam</cp:lastModifiedBy>
  <cp:revision>3</cp:revision>
  <dcterms:created xsi:type="dcterms:W3CDTF">2026-10-03T14:53:48Z</dcterms:created>
  <dcterms:modified xsi:type="dcterms:W3CDTF">2026-10-03T15:29:25Z</dcterms:modified>
</cp:coreProperties>
</file>