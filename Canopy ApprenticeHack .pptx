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E096"/>
    <a:srgbClr val="60432D"/>
    <a:srgbClr val="E5ECBD"/>
    <a:srgbClr val="345D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22"/>
  </p:normalViewPr>
  <p:slideViewPr>
    <p:cSldViewPr snapToGrid="0">
      <p:cViewPr>
        <p:scale>
          <a:sx n="83" d="100"/>
          <a:sy n="83" d="100"/>
        </p:scale>
        <p:origin x="480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36517B-49B1-6144-BFDA-6DB46C875947}" type="datetimeFigureOut">
              <a:rPr lang="en-US" smtClean="0"/>
              <a:t>10/3/26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9F3448-183F-814D-89CF-0B72C1E4E1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73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25B2C-F8A1-6689-26E6-20C33ABE3E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D81B64-C983-5C7E-7EE8-4DB4AD37A0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357EF-2349-8DA4-6289-7680807B4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F2175-F67B-184B-9B64-E3C5ACF0A2EF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BF77F-D8E3-FA9C-317A-4603BA2EF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6B30D-AAE9-CA16-8155-F6A662477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C32B5-C7E0-A848-A3A4-F18F5DA53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33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11361-62CA-0099-56D7-BA7F6C742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5E3FC-11A9-EBD7-6387-0151E93FF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A0386-BB4C-0B11-8599-42A550178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F2175-F67B-184B-9B64-E3C5ACF0A2EF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6D5D1-45BA-6BB9-D32D-99206604A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7A6DC-E207-1073-DB0E-F7076B729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C32B5-C7E0-A848-A3A4-F18F5DA53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998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9E436-40A7-AD53-E5B4-635DD8EFA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1E4A0-3ACB-515C-E535-92C378CD5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B4754-9E17-ADDE-A394-5A0473945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F2175-F67B-184B-9B64-E3C5ACF0A2EF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DDBB9-23EF-8314-7DC8-74C2FCD3C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6E3EC-1CC7-3F26-6E16-527005A9F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C32B5-C7E0-A848-A3A4-F18F5DA53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95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30209-F60D-DC92-A2D8-6690EDECA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60517-3E5B-1833-6454-3BD50954BA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F60DDF-424F-22F2-16E9-1F0494808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4BCFD0-382A-CDA9-E87D-5D7F4D5AC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F2175-F67B-184B-9B64-E3C5ACF0A2EF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6FE19-058B-4EB6-8550-14CACE1BE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71A7A2-F90F-53FA-06DB-EE4B70B63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C32B5-C7E0-A848-A3A4-F18F5DA53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763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E7919-0AC0-D6D3-D582-01C9AEA4F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FA249-B2C4-3C4B-EC5C-C2A0CF89C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27A1FA-B7E8-5934-9C90-D156B3220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C53CF0-B91B-6891-1539-6E492EF871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2B0C0D-E7DB-D026-A146-9A38BE3D60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79DBB-9C72-7B0C-15E9-6F17130C9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F2175-F67B-184B-9B64-E3C5ACF0A2EF}" type="datetimeFigureOut">
              <a:rPr lang="en-US" smtClean="0"/>
              <a:t>10/3/26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95D1E3-0F77-73FA-8199-6AA6A93E1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2E6818-0883-A91B-1601-15CAB7946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C32B5-C7E0-A848-A3A4-F18F5DA53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922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100B7-575D-EC0C-D00D-C8B92232F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859193-8FF1-9B71-897F-FE6256193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F2175-F67B-184B-9B64-E3C5ACF0A2EF}" type="datetimeFigureOut">
              <a:rPr lang="en-US" smtClean="0"/>
              <a:t>10/3/26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2FC59E-66D0-E83E-0086-FE3A65487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881E3C-93E0-16B3-5D54-2B6B84CC9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C32B5-C7E0-A848-A3A4-F18F5DA53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46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1A4F68-4AA8-6ECA-A86F-2B41F147D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F2175-F67B-184B-9B64-E3C5ACF0A2EF}" type="datetimeFigureOut">
              <a:rPr lang="en-US" smtClean="0"/>
              <a:t>10/3/26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AAC7AF-5776-F11B-258D-33270D5BF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EE415-1ED1-1AD0-1911-AD527C704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C32B5-C7E0-A848-A3A4-F18F5DA53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501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C9520-CE0C-8AB8-83D0-41605370F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8C336-4A43-8438-0CA6-A009F4E12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B5ACB0-AD66-E2D3-D45C-2E94390BCC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5B07F6-7E79-58E0-0248-CA2CA52CC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F2175-F67B-184B-9B64-E3C5ACF0A2EF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254E4-11AF-ACBB-3841-A5039B342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25202-60F3-39A9-9F87-264AF2D4B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C32B5-C7E0-A848-A3A4-F18F5DA53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480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C3FBA-37E9-E8CE-5E47-71C3DD100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E3B299-5FB5-F721-69BF-794603DE125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C9B9A5-F135-0C7D-5F80-F62F087E9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8158C2-27C1-6C32-DF62-AD675C08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F2175-F67B-184B-9B64-E3C5ACF0A2EF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57F597-3A7C-1E2F-E041-2C5B7D5D8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02F4E0-42A1-2162-E641-52709F709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C32B5-C7E0-A848-A3A4-F18F5DA53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312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36EDC-CBF8-5308-F891-B02B328ED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5AEC05-77FF-4188-1FE0-C5DEAF16DD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FB33C-79D8-41D4-FA81-B724A3BB8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F2175-F67B-184B-9B64-E3C5ACF0A2EF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61921-6C6E-AE37-2ED4-D486BCFF1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ADF61-E8A2-B4BE-D6F1-CA86C7D6F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C32B5-C7E0-A848-A3A4-F18F5DA53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764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BA496D-9796-7830-C892-B514476741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5AE084-C7DF-FAF8-89B7-DE51690698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28963-F16C-F34F-FE08-9E7EDAD2D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F2175-F67B-184B-9B64-E3C5ACF0A2EF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FB767-ECA6-07C5-37AB-9D21E5297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69354-EC3C-C4F4-D032-3664A8C70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C32B5-C7E0-A848-A3A4-F18F5DA53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353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0386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2F34A5-D993-B100-364B-6B5202ABA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D79640-C87B-6AE4-F4A9-266C903FB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8B3EA-69B4-17CB-7C56-5A940F9F2F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7F2175-F67B-184B-9B64-E3C5ACF0A2EF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8CF3E-E30B-508D-CC47-CC7A194E6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C6FF5-E72F-1F24-3D7E-AB6E83E293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8C32B5-C7E0-A848-A3A4-F18F5DA53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42BED-10B2-EAD7-7B80-5439A96C85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Canopy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6AA66-D657-B123-0E78-05390DB61B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‘Your journalling ecosystem.’</a:t>
            </a:r>
          </a:p>
          <a:p>
            <a:endParaRPr lang="en-US" dirty="0"/>
          </a:p>
          <a:p>
            <a:r>
              <a:rPr lang="en-US" dirty="0"/>
              <a:t>Temiya, Abdul, Joanne, Ram, </a:t>
            </a:r>
            <a:r>
              <a:rPr lang="en-US" dirty="0" err="1"/>
              <a:t>Ateola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33555B-D6E0-E781-9BA3-E3F07F5FA7B2}"/>
              </a:ext>
            </a:extLst>
          </p:cNvPr>
          <p:cNvSpPr/>
          <p:nvPr/>
        </p:nvSpPr>
        <p:spPr>
          <a:xfrm>
            <a:off x="11367911" y="110924"/>
            <a:ext cx="688622" cy="677333"/>
          </a:xfrm>
          <a:prstGeom prst="rect">
            <a:avLst/>
          </a:prstGeom>
          <a:solidFill>
            <a:srgbClr val="345D0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5FF819-3FAD-C5E4-FA30-38F0C5C77BA4}"/>
              </a:ext>
            </a:extLst>
          </p:cNvPr>
          <p:cNvSpPr/>
          <p:nvPr/>
        </p:nvSpPr>
        <p:spPr>
          <a:xfrm>
            <a:off x="11367911" y="2584903"/>
            <a:ext cx="688622" cy="677333"/>
          </a:xfrm>
          <a:prstGeom prst="rect">
            <a:avLst/>
          </a:prstGeom>
          <a:solidFill>
            <a:srgbClr val="D4E0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7D0FAA-9AEC-A925-FB5A-FBDF05BC229B}"/>
              </a:ext>
            </a:extLst>
          </p:cNvPr>
          <p:cNvSpPr/>
          <p:nvPr/>
        </p:nvSpPr>
        <p:spPr>
          <a:xfrm>
            <a:off x="11367911" y="1762780"/>
            <a:ext cx="688622" cy="677333"/>
          </a:xfrm>
          <a:prstGeom prst="rect">
            <a:avLst/>
          </a:prstGeom>
          <a:solidFill>
            <a:srgbClr val="60432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D8BC4D-B1E4-4B12-3426-B7018221470D}"/>
              </a:ext>
            </a:extLst>
          </p:cNvPr>
          <p:cNvSpPr/>
          <p:nvPr/>
        </p:nvSpPr>
        <p:spPr>
          <a:xfrm>
            <a:off x="11367911" y="940657"/>
            <a:ext cx="688622" cy="677333"/>
          </a:xfrm>
          <a:prstGeom prst="rect">
            <a:avLst/>
          </a:prstGeom>
          <a:solidFill>
            <a:srgbClr val="E5ECB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072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656AB-6A68-D1FE-A74D-32346CAA7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and Pain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31E70-4E49-2BDA-0356-F509EB67E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Approx. 30% of apprentices (sample 1000) felt they weren’t educated or supported by their universities or employers for logging OTJ hours and completing weekly journal entries.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60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AB755-D5C4-46B3-19AB-8DB7B2ED1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323CC-2FA8-8095-BEB4-A0EC4F708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centralised</a:t>
            </a:r>
            <a:r>
              <a:rPr lang="en-US" dirty="0"/>
              <a:t> directory for events, summaries and meetings</a:t>
            </a:r>
          </a:p>
          <a:p>
            <a:r>
              <a:rPr lang="en-US" dirty="0"/>
              <a:t>Your university, work and apprenticeship combined into one space!</a:t>
            </a:r>
          </a:p>
          <a:p>
            <a:r>
              <a:rPr lang="en-US" dirty="0"/>
              <a:t>Concept UI design plan shown below</a:t>
            </a:r>
          </a:p>
          <a:p>
            <a:r>
              <a:rPr lang="en-US" dirty="0"/>
              <a:t>Calendar view helps </a:t>
            </a:r>
            <a:r>
              <a:rPr lang="en-US" dirty="0" err="1"/>
              <a:t>visualise</a:t>
            </a:r>
            <a:r>
              <a:rPr lang="en-US" dirty="0"/>
              <a:t> the chosen month’s events, assignment deadlines and any important meetings coming 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AA7127-1951-7914-A706-7F63AC5FA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8" y="5071220"/>
            <a:ext cx="2830620" cy="154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690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F6EA9-D4CF-A017-E5AD-B267E4E48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Capabilities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B5187-8C6E-5F54-626F-14EF3EEF4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48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52D42-0118-8B78-3129-73C780AFF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&gt;_&lt;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3632E-059A-84E9-A27C-8C231271A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688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65EE4-263C-5FFD-9F5A-B594A2899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Scalability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58F9E-EE2A-4854-15BE-637427FFA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Mass solving</a:t>
            </a:r>
          </a:p>
          <a:p>
            <a:r>
              <a:rPr lang="en-US" dirty="0"/>
              <a:t>Uni collaborations</a:t>
            </a:r>
          </a:p>
        </p:txBody>
      </p:sp>
    </p:spTree>
    <p:extLst>
      <p:ext uri="{BB962C8B-B14F-4D97-AF65-F5344CB8AC3E}">
        <p14:creationId xmlns:p14="http://schemas.microsoft.com/office/powerpoint/2010/main" val="2284577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0389E8-7A3A-DF47-A5BE-4495E3E9CE06}">
  <we:reference id="3d2b7d21-fda6-4380-b3d4-39ac6c78a05c" version="1.0.2.0" store="EXCatalog" storeType="EXCatalog"/>
  <we:alternateReferences/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104</Words>
  <Application>Microsoft Macintosh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Canopy</vt:lpstr>
      <vt:lpstr>Problem and Pain Points</vt:lpstr>
      <vt:lpstr>Solution</vt:lpstr>
      <vt:lpstr>Technical Capabilities</vt:lpstr>
      <vt:lpstr>Demo &gt;_&lt;</vt:lpstr>
      <vt:lpstr>Future Scalability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Tabassum, Temiya</dc:creator>
  <cp:lastModifiedBy>Tabassum, Temiya</cp:lastModifiedBy>
  <cp:revision>4</cp:revision>
  <dcterms:created xsi:type="dcterms:W3CDTF">2026-10-03T12:56:10Z</dcterms:created>
  <dcterms:modified xsi:type="dcterms:W3CDTF">2026-10-03T14:54:50Z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2026-10-03T14:23:27Z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253ee5d2-1932-4d7b-af23-23ea16062f0f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